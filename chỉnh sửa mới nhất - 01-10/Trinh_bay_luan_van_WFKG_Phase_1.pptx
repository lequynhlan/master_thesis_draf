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400"/>
      </a:lvl1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000" b="1">
                <a:solidFill>
                  <a:srgbClr val="78D9CF"/>
                </a:solidFill>
                <a:latin typeface="Arial"/>
                <a:ea typeface="Arial"/>
              </a:rPr>
              <a:t xml:space="preserve">LUẬN VĂN • PHASE 1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66928" y="621792"/>
            <a:ext cx="11064240" cy="6126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2700" b="1">
                <a:solidFill>
                  <a:srgbClr val="FFFFFF"/>
                </a:solidFill>
                <a:latin typeface="Arial"/>
                <a:ea typeface="Arial"/>
              </a:rPr>
              <a:t xml:space="preserve">Từ tin tiếng Việt đến liên hệ cổ phiếu có thể truy vết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94360" y="1261872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>
                <a:solidFill>
                  <a:srgbClr val="D1D9E4"/>
                </a:solidFill>
                <a:latin typeface="Arial"/>
                <a:ea typeface="Arial"/>
              </a:rPr>
              <a:t xml:space="preserve">WFKG cho tin tức và dữ liệu giao dịch trên thị trường chứng khoán Việt Nam.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6400800"/>
            <a:ext cx="11045952" cy="10972"/>
          </a:xfrm>
          <a:prstGeom prst="rect">
            <a:avLst/>
          </a:prstGeom>
          <a:solidFill>
            <a:srgbClr val="53627A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566928" y="6428232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800">
                <a:solidFill>
                  <a:srgbClr val="AAB6C9"/>
                </a:solidFill>
                <a:latin typeface="Arial"/>
                <a:ea typeface="Arial"/>
              </a:rPr>
              <a:t xml:space="preserve">Nguồn: Báo cáo mục 1.1–1.3; EVALUATION_PROTOCOL.md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2011680"/>
            <a:ext cx="3493008" cy="1261872"/>
          </a:xfrm>
          <a:prstGeom prst="roundRect">
            <a:avLst/>
          </a:prstGeom>
          <a:solidFill>
            <a:srgbClr val="1A294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86384" y="2194560"/>
            <a:ext cx="32186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600" b="1">
                <a:solidFill>
                  <a:srgbClr val="78D9CF"/>
                </a:solidFill>
                <a:latin typeface="Arial"/>
                <a:ea typeface="Arial"/>
              </a:rPr>
              <a:t xml:space="preserve">Tin phân tán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6384" y="2587752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FFFFFF"/>
                </a:solidFill>
                <a:latin typeface="Arial"/>
                <a:ea typeface="Arial"/>
              </a:rPr>
              <a:t xml:space="preserve">Nhiều bài có thể nói về một Event; một bài có thể chứa nhiều Event.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2011680"/>
            <a:ext cx="3493008" cy="1261872"/>
          </a:xfrm>
          <a:prstGeom prst="roundRect">
            <a:avLst/>
          </a:prstGeom>
          <a:solidFill>
            <a:srgbClr val="1A294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4517136" y="2194560"/>
            <a:ext cx="32186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600" b="1">
                <a:solidFill>
                  <a:srgbClr val="78D9CF"/>
                </a:solidFill>
                <a:latin typeface="Arial"/>
                <a:ea typeface="Arial"/>
              </a:rPr>
              <a:t xml:space="preserve">Định danh &amp; thời gian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17136" y="2587752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FFFFFF"/>
                </a:solidFill>
                <a:latin typeface="Arial"/>
                <a:ea typeface="Arial"/>
              </a:rPr>
              <a:t xml:space="preserve">Nối đúng alias/ticker; phân biệt thời điểm khả dụng và hiệu lực.</a:t>
            </a:r>
          </a:p>
        </p:txBody>
      </p:sp>
      <p:sp>
        <p:nvSpPr>
          <p:cNvPr id="13" name="Shape 13"/>
          <p:cNvSpPr/>
          <p:nvPr/>
        </p:nvSpPr>
        <p:spPr>
          <a:xfrm>
            <a:off x="8119872" y="2011680"/>
            <a:ext cx="3493008" cy="1261872"/>
          </a:xfrm>
          <a:prstGeom prst="roundRect">
            <a:avLst/>
          </a:prstGeom>
          <a:solidFill>
            <a:srgbClr val="1A2947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247888" y="2194560"/>
            <a:ext cx="321868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600" b="1">
                <a:solidFill>
                  <a:srgbClr val="78D9CF"/>
                </a:solidFill>
                <a:latin typeface="Arial"/>
                <a:ea typeface="Arial"/>
              </a:rPr>
              <a:t xml:space="preserve">Giải thích lựa chọn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47888" y="2587752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FFFFFF"/>
                </a:solidFill>
                <a:latin typeface="Arial"/>
                <a:ea typeface="Arial"/>
              </a:rPr>
              <a:t xml:space="preserve">Giữ nguồn, Evidence và đường suy luận tới Candidate.</a:t>
            </a:r>
          </a:p>
        </p:txBody>
      </p:sp>
      <p:sp>
        <p:nvSpPr>
          <p:cNvPr id="16" name="Shape 16"/>
          <p:cNvSpPr/>
          <p:nvPr/>
        </p:nvSpPr>
        <p:spPr>
          <a:xfrm>
            <a:off x="676656" y="3675887"/>
            <a:ext cx="10835640" cy="932688"/>
          </a:xfrm>
          <a:prstGeom prst="roundRect">
            <a:avLst/>
          </a:prstGeom>
          <a:solidFill>
            <a:srgbClr val="20314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77824" y="3822191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78D9CF"/>
                </a:solidFill>
                <a:latin typeface="Arial"/>
                <a:ea typeface="Arial"/>
              </a:rPr>
              <a:t xml:space="preserve">MỤC TIÊU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2148840" y="377647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 b="1">
                <a:solidFill>
                  <a:srgbClr val="FFFFFF"/>
                </a:solidFill>
                <a:latin typeface="Arial"/>
                <a:ea typeface="Arial"/>
              </a:rPr>
              <a:t xml:space="preserve">Biểu diễn thực thể, quan hệ và provenance để giải thích cổ phiếu được chọn và phản ứng thị trường được tính từ đâu.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49808" y="5074920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 b="1">
                <a:solidFill>
                  <a:srgbClr val="78D9CF"/>
                </a:solidFill>
                <a:latin typeface="Arial"/>
                <a:ea typeface="Arial"/>
              </a:rPr>
              <a:t xml:space="preserve">RQ1  Trích xuất &amp; liên kết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370832" y="5074920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 b="1">
                <a:solidFill>
                  <a:srgbClr val="78D9CF"/>
                </a:solidFill>
                <a:latin typeface="Arial"/>
                <a:ea typeface="Arial"/>
              </a:rPr>
              <a:t xml:space="preserve">RQ2  Tìm liên hệ gián tiếp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982712" y="5074920"/>
            <a:ext cx="3401568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 b="1">
                <a:solidFill>
                  <a:srgbClr val="78D9CF"/>
                </a:solidFill>
                <a:latin typeface="Arial"/>
                <a:ea typeface="Arial"/>
              </a:rPr>
              <a:t xml:space="preserve">RQ3  Trọng số &amp; xếp hạng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49808" y="5650992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>
                <a:solidFill>
                  <a:srgbClr val="D1D9E4"/>
                </a:solidFill>
                <a:latin typeface="Arial"/>
                <a:ea typeface="Arial"/>
              </a:rPr>
              <a:t xml:space="preserve">Hiện tại: Phase 1 đặc tả và kiểm chứng cấu trúc.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000" b="1">
                <a:solidFill>
                  <a:srgbClr val="16A89A"/>
                </a:solidFill>
                <a:latin typeface="Arial"/>
                <a:ea typeface="Arial"/>
              </a:rPr>
              <a:t xml:space="preserve">THIẾT KẾ CHÍNH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66928" y="621792"/>
            <a:ext cx="11064240" cy="6126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2700" b="1">
                <a:solidFill>
                  <a:srgbClr val="182235"/>
                </a:solidFill>
                <a:latin typeface="Arial"/>
                <a:ea typeface="Arial"/>
              </a:rPr>
              <a:t xml:space="preserve">Candidate được suy luận tại cutoff; Reaction đến sau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94360" y="1261872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>
                <a:solidFill>
                  <a:srgbClr val="58677D"/>
                </a:solidFill>
                <a:latin typeface="Arial"/>
                <a:ea typeface="Arial"/>
              </a:rPr>
              <a:t xml:space="preserve">Không đưa dữ liệu tương lai vào quyết định Candidate.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6400800"/>
            <a:ext cx="11045952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566928" y="6428232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800">
                <a:solidFill>
                  <a:srgbClr val="718096"/>
                </a:solidFill>
                <a:latin typeface="Arial"/>
                <a:ea typeface="Arial"/>
              </a:rPr>
              <a:t xml:space="preserve">Nguồn: Báo cáo mục 2.1–2.4, 2.7; EVENT_SCHEMA.md; SCORING_SPEC.md</a:t>
            </a:r>
          </a:p>
        </p:txBody>
      </p:sp>
      <p:sp>
        <p:nvSpPr>
          <p:cNvPr id="7" name="Shape 7"/>
          <p:cNvSpPr/>
          <p:nvPr/>
        </p:nvSpPr>
        <p:spPr>
          <a:xfrm>
            <a:off x="548640" y="1783080"/>
            <a:ext cx="1810512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8" name="Shape 8"/>
          <p:cNvSpPr/>
          <p:nvPr/>
        </p:nvSpPr>
        <p:spPr>
          <a:xfrm>
            <a:off x="548640" y="1783080"/>
            <a:ext cx="1810512" cy="64008"/>
          </a:xfrm>
          <a:prstGeom prst="rect">
            <a:avLst/>
          </a:prstGeom>
          <a:solidFill>
            <a:srgbClr val="4169A8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40080" y="201168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Bài báo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21792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Nguồn + thời điểm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414016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200" b="1">
                <a:solidFill>
                  <a:srgbClr val="16A89A"/>
                </a:solidFill>
                <a:latin typeface="Arial"/>
                <a:ea typeface="Arial"/>
              </a:rPr>
              <a:t xml:space="preserve">›</a:t>
            </a:r>
          </a:p>
        </p:txBody>
      </p:sp>
      <p:sp>
        <p:nvSpPr>
          <p:cNvPr id="12" name="Shape 12"/>
          <p:cNvSpPr/>
          <p:nvPr/>
        </p:nvSpPr>
        <p:spPr>
          <a:xfrm>
            <a:off x="2880360" y="1783080"/>
            <a:ext cx="1810512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3" name="Shape 13"/>
          <p:cNvSpPr/>
          <p:nvPr/>
        </p:nvSpPr>
        <p:spPr>
          <a:xfrm>
            <a:off x="2880360" y="1783080"/>
            <a:ext cx="1810512" cy="64008"/>
          </a:xfrm>
          <a:prstGeom prst="rect">
            <a:avLst/>
          </a:prstGeom>
          <a:solidFill>
            <a:srgbClr val="16A89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2971800" y="201168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Event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2953512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Evidence + vai trò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745736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200" b="1">
                <a:solidFill>
                  <a:srgbClr val="16A89A"/>
                </a:solidFill>
                <a:latin typeface="Arial"/>
                <a:ea typeface="Arial"/>
              </a:rPr>
              <a:t xml:space="preserve">›</a:t>
            </a:r>
          </a:p>
        </p:txBody>
      </p:sp>
      <p:sp>
        <p:nvSpPr>
          <p:cNvPr id="17" name="Shape 17"/>
          <p:cNvSpPr/>
          <p:nvPr/>
        </p:nvSpPr>
        <p:spPr>
          <a:xfrm>
            <a:off x="5212079" y="1783080"/>
            <a:ext cx="1810512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212079" y="1783080"/>
            <a:ext cx="1810512" cy="64008"/>
          </a:xfrm>
          <a:prstGeom prst="rect">
            <a:avLst/>
          </a:prstGeom>
          <a:solidFill>
            <a:srgbClr val="4169A8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303519" y="201168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WFKG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285231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Thực thể + quan hệ thời gian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077455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200" b="1">
                <a:solidFill>
                  <a:srgbClr val="16A89A"/>
                </a:solidFill>
                <a:latin typeface="Arial"/>
                <a:ea typeface="Arial"/>
              </a:rPr>
              <a:t xml:space="preserve">›</a:t>
            </a:r>
          </a:p>
        </p:txBody>
      </p:sp>
      <p:sp>
        <p:nvSpPr>
          <p:cNvPr id="22" name="Shape 22"/>
          <p:cNvSpPr/>
          <p:nvPr/>
        </p:nvSpPr>
        <p:spPr>
          <a:xfrm>
            <a:off x="7543800" y="1783080"/>
            <a:ext cx="1810512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23" name="Shape 23"/>
          <p:cNvSpPr/>
          <p:nvPr/>
        </p:nvSpPr>
        <p:spPr>
          <a:xfrm>
            <a:off x="7543800" y="1783080"/>
            <a:ext cx="1810512" cy="64008"/>
          </a:xfrm>
          <a:prstGeom prst="rect">
            <a:avLst/>
          </a:prstGeom>
          <a:solidFill>
            <a:srgbClr val="E59B2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7635240" y="201168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Candidate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616952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Đủ assignment tại cutoff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409176" y="21762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200" b="1">
                <a:solidFill>
                  <a:srgbClr val="16A89A"/>
                </a:solidFill>
                <a:latin typeface="Arial"/>
                <a:ea typeface="Arial"/>
              </a:rPr>
              <a:t xml:space="preserve">›</a:t>
            </a:r>
          </a:p>
        </p:txBody>
      </p:sp>
      <p:sp>
        <p:nvSpPr>
          <p:cNvPr id="27" name="Shape 27"/>
          <p:cNvSpPr/>
          <p:nvPr/>
        </p:nvSpPr>
        <p:spPr>
          <a:xfrm>
            <a:off x="9875519" y="1783080"/>
            <a:ext cx="1810512" cy="123444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28" name="Shape 28"/>
          <p:cNvSpPr/>
          <p:nvPr/>
        </p:nvSpPr>
        <p:spPr>
          <a:xfrm>
            <a:off x="9875519" y="1783080"/>
            <a:ext cx="1810512" cy="64008"/>
          </a:xfrm>
          <a:prstGeom prst="rect">
            <a:avLst/>
          </a:prstGeom>
          <a:solidFill>
            <a:srgbClr val="16A89A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9966959" y="2011680"/>
            <a:ext cx="162763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Reaction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9948672" y="2395728"/>
            <a:ext cx="1664208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Sau khi đủ market window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76656" y="340156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16A89A"/>
                </a:solidFill>
                <a:latin typeface="Arial"/>
                <a:ea typeface="Arial"/>
              </a:rPr>
              <a:t xml:space="preserve">BỐN ROUTE BASELINE</a:t>
            </a:r>
          </a:p>
        </p:txBody>
      </p:sp>
      <p:sp>
        <p:nvSpPr>
          <p:cNvPr id="32" name="Shape 32"/>
          <p:cNvSpPr/>
          <p:nvPr/>
        </p:nvSpPr>
        <p:spPr>
          <a:xfrm>
            <a:off x="658368" y="3767328"/>
            <a:ext cx="5340096" cy="69494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33" name="Text 33"/>
          <p:cNvSpPr txBox="1"/>
          <p:nvPr/>
        </p:nvSpPr>
        <p:spPr>
          <a:xfrm>
            <a:off x="786384" y="387705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4169A8"/>
                </a:solidFill>
                <a:latin typeface="Arial"/>
                <a:ea typeface="Arial"/>
              </a:rPr>
              <a:t xml:space="preserve">DIRECT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2011680" y="3877056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 b="1">
                <a:solidFill>
                  <a:srgbClr val="182235"/>
                </a:solidFill>
                <a:latin typeface="Arial"/>
                <a:ea typeface="Arial"/>
              </a:rPr>
              <a:t xml:space="preserve">Event → Company → Stock</a:t>
            </a:r>
          </a:p>
        </p:txBody>
      </p:sp>
      <p:sp>
        <p:nvSpPr>
          <p:cNvPr id="35" name="Shape 35"/>
          <p:cNvSpPr/>
          <p:nvPr/>
        </p:nvSpPr>
        <p:spPr>
          <a:xfrm>
            <a:off x="6217920" y="3767328"/>
            <a:ext cx="5340096" cy="69494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345936" y="3877056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16A89A"/>
                </a:solidFill>
                <a:latin typeface="Arial"/>
                <a:ea typeface="Arial"/>
              </a:rPr>
              <a:t xml:space="preserve">INDUSTRY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571231" y="3877056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 b="1">
                <a:solidFill>
                  <a:srgbClr val="182235"/>
                </a:solidFill>
                <a:latin typeface="Arial"/>
                <a:ea typeface="Arial"/>
              </a:rPr>
              <a:t xml:space="preserve">Event → Industry ← Exposure ← Bank → Stock</a:t>
            </a:r>
          </a:p>
        </p:txBody>
      </p:sp>
      <p:sp>
        <p:nvSpPr>
          <p:cNvPr id="38" name="Shape 38"/>
          <p:cNvSpPr/>
          <p:nvPr/>
        </p:nvSpPr>
        <p:spPr>
          <a:xfrm>
            <a:off x="658368" y="4608576"/>
            <a:ext cx="5340096" cy="69494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39" name="Text 39"/>
          <p:cNvSpPr txBox="1"/>
          <p:nvPr/>
        </p:nvSpPr>
        <p:spPr>
          <a:xfrm>
            <a:off x="786384" y="4718304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E59B28"/>
                </a:solidFill>
                <a:latin typeface="Arial"/>
                <a:ea typeface="Arial"/>
              </a:rPr>
              <a:t xml:space="preserve">SUBSIDIARY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2011680" y="471830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 b="1">
                <a:solidFill>
                  <a:srgbClr val="182235"/>
                </a:solidFill>
                <a:latin typeface="Arial"/>
                <a:ea typeface="Arial"/>
              </a:rPr>
              <a:t xml:space="preserve">Event → công ty con → mẹ → Stock</a:t>
            </a:r>
          </a:p>
        </p:txBody>
      </p:sp>
      <p:sp>
        <p:nvSpPr>
          <p:cNvPr id="41" name="Shape 41"/>
          <p:cNvSpPr/>
          <p:nvPr/>
        </p:nvSpPr>
        <p:spPr>
          <a:xfrm>
            <a:off x="6217920" y="4608576"/>
            <a:ext cx="5340096" cy="69494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6345936" y="4718304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100" b="1">
                <a:solidFill>
                  <a:srgbClr val="C95649"/>
                </a:solidFill>
                <a:latin typeface="Arial"/>
                <a:ea typeface="Arial"/>
              </a:rPr>
              <a:t xml:space="preserve">LEADERSHIP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7571231" y="4718304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 b="1">
                <a:solidFill>
                  <a:srgbClr val="182235"/>
                </a:solidFill>
                <a:latin typeface="Arial"/>
                <a:ea typeface="Arial"/>
              </a:rPr>
              <a:t xml:space="preserve">Event → Leader → Position → Company → Stock</a:t>
            </a:r>
          </a:p>
        </p:txBody>
      </p:sp>
      <p:sp>
        <p:nvSpPr>
          <p:cNvPr id="44" name="Shape 44"/>
          <p:cNvSpPr/>
          <p:nvPr/>
        </p:nvSpPr>
        <p:spPr>
          <a:xfrm>
            <a:off x="676656" y="5650992"/>
            <a:ext cx="10826496" cy="438912"/>
          </a:xfrm>
          <a:prstGeom prst="roundRect">
            <a:avLst/>
          </a:prstGeom>
          <a:solidFill>
            <a:srgbClr val="E8EFF9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841248" y="5715000"/>
            <a:ext cx="10469880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200" b="1">
                <a:solidFill>
                  <a:srgbClr val="182235"/>
                </a:solidFill>
                <a:latin typeface="Arial"/>
                <a:ea typeface="Arial"/>
              </a:rPr>
              <a:t xml:space="preserve">Candidate ≠ Reaction. Reaction là quan sát thị trường, không tự chứng minh quan hệ nhân quả.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000" b="1">
                <a:solidFill>
                  <a:srgbClr val="16A89A"/>
                </a:solidFill>
                <a:latin typeface="Arial"/>
                <a:ea typeface="Arial"/>
              </a:rPr>
              <a:t xml:space="preserve">KẾT QUẢ KIỂM CHỨNG PHASE 1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66928" y="621792"/>
            <a:ext cx="11064240" cy="6126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2700" b="1">
                <a:solidFill>
                  <a:srgbClr val="182235"/>
                </a:solidFill>
                <a:latin typeface="Arial"/>
                <a:ea typeface="Arial"/>
              </a:rPr>
              <a:t xml:space="preserve">Contract 1.0.5: kiểm chứng cấu trúc, chưa đo hiệu quả RQ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94360" y="1261872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>
                <a:solidFill>
                  <a:srgbClr val="58677D"/>
                </a:solidFill>
                <a:latin typeface="Arial"/>
                <a:ea typeface="Arial"/>
              </a:rPr>
              <a:t xml:space="preserve">Số liệu dưới đây là regression và structural audit; fixture regression dùng dữ liệu tổng hợp.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6400800"/>
            <a:ext cx="11045952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566928" y="6428232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800">
                <a:solidFill>
                  <a:srgbClr val="718096"/>
                </a:solidFill>
                <a:latin typeface="Arial"/>
                <a:ea typeface="Arial"/>
              </a:rPr>
              <a:t xml:space="preserve">Nguồn: verification_contract_1.0.5.json; PHASE1_ACCEPTANCE.md; tools/README.md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700784"/>
            <a:ext cx="10863072" cy="658368"/>
          </a:xfrm>
          <a:prstGeom prst="roundRect">
            <a:avLst/>
          </a:prstGeom>
          <a:solidFill>
            <a:srgbClr val="101B32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68680" y="1847088"/>
            <a:ext cx="2057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900" b="1">
                <a:solidFill>
                  <a:srgbClr val="FFFFFF"/>
                </a:solidFill>
                <a:latin typeface="Arial"/>
                <a:ea typeface="Arial"/>
              </a:rPr>
              <a:t xml:space="preserve">22 lớp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703320" y="1847088"/>
            <a:ext cx="26060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900" b="1">
                <a:solidFill>
                  <a:srgbClr val="FFFFFF"/>
                </a:solidFill>
                <a:latin typeface="Arial"/>
                <a:ea typeface="Arial"/>
              </a:rPr>
              <a:t xml:space="preserve">14 loại Event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452360" y="1847088"/>
            <a:ext cx="26517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900" b="1">
                <a:solidFill>
                  <a:srgbClr val="FFFFFF"/>
                </a:solidFill>
                <a:latin typeface="Arial"/>
                <a:ea typeface="Arial"/>
              </a:rPr>
              <a:t xml:space="preserve">4 route</a:t>
            </a:r>
          </a:p>
        </p:txBody>
      </p:sp>
      <p:sp>
        <p:nvSpPr>
          <p:cNvPr id="11" name="Shape 11"/>
          <p:cNvSpPr/>
          <p:nvPr/>
        </p:nvSpPr>
        <p:spPr>
          <a:xfrm>
            <a:off x="685800" y="2670048"/>
            <a:ext cx="2542032" cy="117043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95528" y="2816352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300" b="1">
                <a:solidFill>
                  <a:srgbClr val="16A89A"/>
                </a:solidFill>
                <a:latin typeface="Arial"/>
                <a:ea typeface="Arial"/>
              </a:rPr>
              <a:t xml:space="preserve">32 / 32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777240" y="3264408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SHACL regression</a:t>
            </a:r>
          </a:p>
        </p:txBody>
      </p:sp>
      <p:sp>
        <p:nvSpPr>
          <p:cNvPr id="14" name="Shape 14"/>
          <p:cNvSpPr/>
          <p:nvPr/>
        </p:nvSpPr>
        <p:spPr>
          <a:xfrm>
            <a:off x="3456432" y="2670048"/>
            <a:ext cx="2542032" cy="117043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3566160" y="2816352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300" b="1">
                <a:solidFill>
                  <a:srgbClr val="4169A8"/>
                </a:solidFill>
                <a:latin typeface="Arial"/>
                <a:ea typeface="Arial"/>
              </a:rPr>
              <a:t xml:space="preserve">8 / 8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547872" y="3264408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diagram-audit tests</a:t>
            </a:r>
          </a:p>
        </p:txBody>
      </p:sp>
      <p:sp>
        <p:nvSpPr>
          <p:cNvPr id="17" name="Shape 17"/>
          <p:cNvSpPr/>
          <p:nvPr/>
        </p:nvSpPr>
        <p:spPr>
          <a:xfrm>
            <a:off x="6227064" y="2670048"/>
            <a:ext cx="2542032" cy="117043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6336792" y="2816352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300" b="1">
                <a:solidFill>
                  <a:srgbClr val="16A89A"/>
                </a:solidFill>
                <a:latin typeface="Arial"/>
                <a:ea typeface="Arial"/>
              </a:rPr>
              <a:t xml:space="preserve">337 PASS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318503" y="3264408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0 FAIL trong audit</a:t>
            </a:r>
          </a:p>
        </p:txBody>
      </p:sp>
      <p:sp>
        <p:nvSpPr>
          <p:cNvPr id="20" name="Shape 20"/>
          <p:cNvSpPr/>
          <p:nvPr/>
        </p:nvSpPr>
        <p:spPr>
          <a:xfrm>
            <a:off x="8997696" y="2670048"/>
            <a:ext cx="2542032" cy="117043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9107424" y="2816352"/>
            <a:ext cx="23225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2300" b="1">
                <a:solidFill>
                  <a:srgbClr val="4169A8"/>
                </a:solidFill>
                <a:latin typeface="Arial"/>
                <a:ea typeface="Arial"/>
              </a:rPr>
              <a:t xml:space="preserve">44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9089136" y="3264408"/>
            <a:ext cx="23591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100">
                <a:solidFill>
                  <a:srgbClr val="58677D"/>
                </a:solidFill>
                <a:latin typeface="Arial"/>
                <a:ea typeface="Arial"/>
              </a:rPr>
              <a:t xml:space="preserve">SELECT syntax parsed</a:t>
            </a:r>
          </a:p>
        </p:txBody>
      </p:sp>
      <p:sp>
        <p:nvSpPr>
          <p:cNvPr id="23" name="Shape 23"/>
          <p:cNvSpPr/>
          <p:nvPr/>
        </p:nvSpPr>
        <p:spPr>
          <a:xfrm>
            <a:off x="685800" y="4160520"/>
            <a:ext cx="5276088" cy="1078992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68680" y="4297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600" b="1">
                <a:solidFill>
                  <a:srgbClr val="182235"/>
                </a:solidFill>
                <a:latin typeface="Arial"/>
                <a:ea typeface="Arial"/>
              </a:rPr>
              <a:t xml:space="preserve">57 NOT CHECKED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68680" y="469087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182235"/>
                </a:solidFill>
                <a:latin typeface="Arial"/>
                <a:ea typeface="Arial"/>
              </a:rPr>
              <a:t xml:space="preserve">Cần review thủ công; không tính là PASS.</a:t>
            </a:r>
          </a:p>
        </p:txBody>
      </p:sp>
      <p:sp>
        <p:nvSpPr>
          <p:cNvPr id="26" name="Shape 26"/>
          <p:cNvSpPr/>
          <p:nvPr/>
        </p:nvSpPr>
        <p:spPr>
          <a:xfrm>
            <a:off x="6199632" y="4160520"/>
            <a:ext cx="5276088" cy="1078992"/>
          </a:xfrm>
          <a:prstGeom prst="roundRect">
            <a:avLst/>
          </a:prstGeom>
          <a:solidFill>
            <a:srgbClr val="E2F4F1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382512" y="4297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 b="1">
                <a:solidFill>
                  <a:srgbClr val="16A89A"/>
                </a:solidFill>
                <a:latin typeface="Arial"/>
                <a:ea typeface="Arial"/>
              </a:rPr>
              <a:t xml:space="preserve">ĐÃ KIỂM CHỨNG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6382512" y="4690872"/>
            <a:ext cx="4800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182235"/>
                </a:solidFill>
                <a:latin typeface="Arial"/>
                <a:ea typeface="Arial"/>
              </a:rPr>
              <a:t xml:space="preserve">Schema/regression trong phạm vi contract 1.0.5.</a:t>
            </a:r>
          </a:p>
        </p:txBody>
      </p:sp>
      <p:sp>
        <p:nvSpPr>
          <p:cNvPr id="29" name="Shape 29"/>
          <p:cNvSpPr/>
          <p:nvPr/>
        </p:nvSpPr>
        <p:spPr>
          <a:xfrm>
            <a:off x="685800" y="5504688"/>
            <a:ext cx="10789920" cy="493776"/>
          </a:xfrm>
          <a:prstGeom prst="roundRect">
            <a:avLst/>
          </a:prstGeom>
          <a:solidFill>
            <a:srgbClr val="101B32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59536" y="5586984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200" b="1">
                <a:solidFill>
                  <a:srgbClr val="FFFFFF"/>
                </a:solidFill>
                <a:latin typeface="Arial"/>
                <a:ea typeface="Arial"/>
              </a:rPr>
              <a:t xml:space="preserve">CHƯA CÓ: pipeline Phase 2 • kết quả RQ1–RQ3 • ranking hoặc phản ứng trên dữ liệu thị trường thật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000" b="1">
                <a:solidFill>
                  <a:srgbClr val="16A89A"/>
                </a:solidFill>
                <a:latin typeface="Arial"/>
                <a:ea typeface="Arial"/>
              </a:rPr>
              <a:t xml:space="preserve">BƯỚC TIẾP THEO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66928" y="621792"/>
            <a:ext cx="11064240" cy="6126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2700" b="1">
                <a:solidFill>
                  <a:srgbClr val="182235"/>
                </a:solidFill>
                <a:latin typeface="Arial"/>
                <a:ea typeface="Arial"/>
              </a:rPr>
              <a:t xml:space="preserve">Khóa dữ liệu và quy trình trước final evaluation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94360" y="1261872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400">
                <a:solidFill>
                  <a:srgbClr val="58677D"/>
                </a:solidFill>
                <a:latin typeface="Arial"/>
                <a:ea typeface="Arial"/>
              </a:rPr>
              <a:t xml:space="preserve">Các mục dưới đây là việc cần triển khai, chưa phải kết quả.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6400800"/>
            <a:ext cx="11045952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566928" y="6428232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800">
                <a:solidFill>
                  <a:srgbClr val="718096"/>
                </a:solidFill>
                <a:latin typeface="Arial"/>
                <a:ea typeface="Arial"/>
              </a:rPr>
              <a:t xml:space="preserve">Nguồn: FINAL_DECISIONS.md; PHASE1_ACCEPTANCE.md; EVALUATION_PROTOCOL.md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874519"/>
            <a:ext cx="2578608" cy="23591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8" name="Shape 8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solidFill>
            <a:srgbClr val="4169A8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914400" y="213969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 b="1">
                <a:solidFill>
                  <a:srgbClr val="FFFFFF"/>
                </a:solidFill>
                <a:latin typeface="Arial"/>
                <a:ea typeface="Arial"/>
              </a:rPr>
              <a:t xml:space="preserve">1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22959" y="2724912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Khóa manifest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22959" y="3154680"/>
            <a:ext cx="2249424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58677D"/>
                </a:solidFill>
                <a:latin typeface="Arial"/>
                <a:ea typeface="Arial"/>
              </a:rPr>
              <a:t xml:space="preserve">Universe, khoảng thời gian, benchmark, nguồn giá, điều chỉnh giá và exchange calendar.</a:t>
            </a:r>
          </a:p>
        </p:txBody>
      </p:sp>
      <p:sp>
        <p:nvSpPr>
          <p:cNvPr id="12" name="Shape 12"/>
          <p:cNvSpPr/>
          <p:nvPr/>
        </p:nvSpPr>
        <p:spPr>
          <a:xfrm>
            <a:off x="3447287" y="1874519"/>
            <a:ext cx="2578608" cy="23591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3" name="Shape 13"/>
          <p:cNvSpPr/>
          <p:nvPr/>
        </p:nvSpPr>
        <p:spPr>
          <a:xfrm>
            <a:off x="3611879" y="2057400"/>
            <a:ext cx="457200" cy="457200"/>
          </a:xfrm>
          <a:prstGeom prst="ellipse">
            <a:avLst/>
          </a:prstGeom>
          <a:solidFill>
            <a:srgbClr val="16A89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703320" y="213969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 b="1">
                <a:solidFill>
                  <a:srgbClr val="FFFFFF"/>
                </a:solidFill>
                <a:latin typeface="Arial"/>
                <a:ea typeface="Arial"/>
              </a:rPr>
              <a:t xml:space="preserve">2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3611879" y="2724912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Xây pipeline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611879" y="3154680"/>
            <a:ext cx="2249424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58677D"/>
                </a:solidFill>
                <a:latin typeface="Arial"/>
                <a:ea typeface="Arial"/>
              </a:rPr>
              <a:t xml:space="preserve">Ingestion → Event/Evidence → linking → temporal gate → Candidate.</a:t>
            </a:r>
          </a:p>
        </p:txBody>
      </p:sp>
      <p:sp>
        <p:nvSpPr>
          <p:cNvPr id="17" name="Shape 17"/>
          <p:cNvSpPr/>
          <p:nvPr/>
        </p:nvSpPr>
        <p:spPr>
          <a:xfrm>
            <a:off x="6236207" y="1874519"/>
            <a:ext cx="2578608" cy="23591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18" name="Shape 18"/>
          <p:cNvSpPr/>
          <p:nvPr/>
        </p:nvSpPr>
        <p:spPr>
          <a:xfrm>
            <a:off x="6400799" y="2057400"/>
            <a:ext cx="457200" cy="457200"/>
          </a:xfrm>
          <a:prstGeom prst="ellipse">
            <a:avLst/>
          </a:prstGeom>
          <a:solidFill>
            <a:srgbClr val="E59B28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492240" y="213969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 b="1">
                <a:solidFill>
                  <a:srgbClr val="FFFFFF"/>
                </a:solidFill>
                <a:latin typeface="Arial"/>
                <a:ea typeface="Arial"/>
              </a:rPr>
              <a:t xml:space="preserve">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400799" y="2724912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Lập gold corpus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00799" y="3154680"/>
            <a:ext cx="2249424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58677D"/>
                </a:solidFill>
                <a:latin typeface="Arial"/>
                <a:ea typeface="Arial"/>
              </a:rPr>
              <a:t xml:space="preserve">Chốt annotator/adjudicator; double-label tối thiểu 25%.</a:t>
            </a:r>
          </a:p>
        </p:txBody>
      </p:sp>
      <p:sp>
        <p:nvSpPr>
          <p:cNvPr id="22" name="Shape 22"/>
          <p:cNvSpPr/>
          <p:nvPr/>
        </p:nvSpPr>
        <p:spPr>
          <a:xfrm>
            <a:off x="9025128" y="1874519"/>
            <a:ext cx="2578608" cy="23591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CE2E8"/>
            </a:solidFill>
          </a:ln>
        </p:spPr>
      </p:sp>
      <p:sp>
        <p:nvSpPr>
          <p:cNvPr id="23" name="Shape 23"/>
          <p:cNvSpPr/>
          <p:nvPr/>
        </p:nvSpPr>
        <p:spPr>
          <a:xfrm>
            <a:off x="9189719" y="2057400"/>
            <a:ext cx="457200" cy="457200"/>
          </a:xfrm>
          <a:prstGeom prst="ellipse">
            <a:avLst/>
          </a:prstGeom>
          <a:solidFill>
            <a:srgbClr val="C95649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281159" y="2139696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 b="1">
                <a:solidFill>
                  <a:srgbClr val="FFFFFF"/>
                </a:solidFill>
                <a:latin typeface="Arial"/>
                <a:ea typeface="Arial"/>
              </a:rPr>
              <a:t xml:space="preserve">4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189719" y="2724912"/>
            <a:ext cx="22494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500" b="1">
                <a:solidFill>
                  <a:srgbClr val="182235"/>
                </a:solidFill>
                <a:latin typeface="Arial"/>
                <a:ea typeface="Arial"/>
              </a:rPr>
              <a:t xml:space="preserve">Chạy đánh giá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9189719" y="3154680"/>
            <a:ext cx="2249424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58677D"/>
                </a:solidFill>
                <a:latin typeface="Arial"/>
                <a:ea typeface="Arial"/>
              </a:rPr>
              <a:t xml:space="preserve">Đủ market window thì tính Reaction; chạy sealed RQ1–RQ3.</a:t>
            </a:r>
          </a:p>
        </p:txBody>
      </p:sp>
      <p:sp>
        <p:nvSpPr>
          <p:cNvPr id="27" name="Shape 27"/>
          <p:cNvSpPr/>
          <p:nvPr/>
        </p:nvSpPr>
        <p:spPr>
          <a:xfrm>
            <a:off x="694944" y="4709160"/>
            <a:ext cx="10789920" cy="685800"/>
          </a:xfrm>
          <a:prstGeom prst="roundRect">
            <a:avLst/>
          </a:prstGeom>
          <a:solidFill>
            <a:srgbClr val="FFF1D8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896112" y="4837176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300" b="1">
                <a:solidFill>
                  <a:srgbClr val="182235"/>
                </a:solidFill>
                <a:latin typeface="Arial"/>
                <a:ea typeface="Arial"/>
              </a:rPr>
              <a:t xml:space="preserve">Ngưỡng đánh giá theo route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3154680" y="4809744"/>
            <a:ext cx="797356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l">
              <a:buNone/>
              <a:spcAft>
                <a:spcPts val="300"/>
              </a:spcAft>
            </a:pPr>
            <a:r>
              <a:rPr lang="vi-VN" sz="1200">
                <a:solidFill>
                  <a:srgbClr val="182235"/>
                </a:solidFill>
                <a:latin typeface="Arial"/>
                <a:ea typeface="Arial"/>
              </a:rPr>
              <a:t xml:space="preserve">Mục tiêu ≥100 cặp dương tính từ ≥30 Event cho mỗi impactType; thiếu thì chỉ báo cáo mô tả.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77240" y="5715000"/>
            <a:ext cx="10469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rIns="45720" tIns="22860" bIns="22860">
            <a:normAutofit/>
          </a:bodyPr>
          <a:lstStyle/>
          <a:p>
            <a:pPr algn="ctr">
              <a:buNone/>
              <a:spcAft>
                <a:spcPts val="300"/>
              </a:spcAft>
            </a:pPr>
            <a:r>
              <a:rPr lang="vi-VN" sz="1300" b="1">
                <a:solidFill>
                  <a:srgbClr val="4169A8"/>
                </a:solidFill>
                <a:latin typeface="Arial"/>
                <a:ea typeface="Arial"/>
              </a:rPr>
              <a:t xml:space="preserve">Vertical slice 100–300 bài chỉ phục vụ smoke/debug, không phải final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FKG">
  <a:themeElements>
    <a:clrScheme name="WFKG">
      <a:dk1>
        <a:srgbClr val="101B32"/>
      </a:dk1>
      <a:lt1>
        <a:srgbClr val="FFFFFF"/>
      </a:lt1>
      <a:dk2>
        <a:srgbClr val="182235"/>
      </a:dk2>
      <a:lt2>
        <a:srgbClr val="F6F5F0"/>
      </a:lt2>
      <a:accent1>
        <a:srgbClr val="16A89A"/>
      </a:accent1>
      <a:accent2>
        <a:srgbClr val="4169A8"/>
      </a:accent2>
      <a:accent3>
        <a:srgbClr val="E59B28"/>
      </a:accent3>
      <a:accent4>
        <a:srgbClr val="C95649"/>
      </a:accent4>
      <a:accent5>
        <a:srgbClr val="58677D"/>
      </a:accent5>
      <a:accent6>
        <a:srgbClr val="DCE2E8"/>
      </a:accent6>
      <a:hlink>
        <a:srgbClr val="0563C1"/>
      </a:hlink>
      <a:folHlink>
        <a:srgbClr val="954F72"/>
      </a:folHlink>
    </a:clrScheme>
    <a:fontScheme name="WFKG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WFKG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</a:ln>
        <a:ln w="12700">
          <a:solidFill>
            <a:schemeClr val="accent2"/>
          </a:solidFill>
        </a:ln>
        <a:ln w="1905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